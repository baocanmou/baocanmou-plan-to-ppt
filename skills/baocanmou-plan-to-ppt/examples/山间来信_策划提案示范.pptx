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fa5112a65746c6" /><Relationship Type="http://schemas.openxmlformats.org/officeDocument/2006/relationships/extended-properties" Target="/docProps/app.xml" Id="Rf2c0914108944f81" /><Relationship Type="http://schemas.openxmlformats.org/officeDocument/2006/relationships/officeDocument" Target="/ppt/presentation.xml" Id="R25365ac1be10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44cf852a4467c"/>
  </p:sldMasterIdLst>
  <p:notesMasterIdLst>
    <p:notesMasterId xmlns:r="http://schemas.openxmlformats.org/officeDocument/2006/relationships" r:id="R5f7e686263934341"/>
  </p:notesMasterIdLst>
  <p:sldIdLst>
    <p:sldId xmlns:r="http://schemas.openxmlformats.org/officeDocument/2006/relationships" id="256" r:id="R0213e42eaea2416d"/>
    <p:sldId xmlns:r="http://schemas.openxmlformats.org/officeDocument/2006/relationships" id="257" r:id="R4c5d93af74644944"/>
    <p:sldId xmlns:r="http://schemas.openxmlformats.org/officeDocument/2006/relationships" id="258" r:id="Rf55d21dce98d4844"/>
    <p:sldId xmlns:r="http://schemas.openxmlformats.org/officeDocument/2006/relationships" id="259" r:id="R6fa892907cd24173"/>
    <p:sldId xmlns:r="http://schemas.openxmlformats.org/officeDocument/2006/relationships" id="260" r:id="R631aa59ebe854e80"/>
    <p:sldId xmlns:r="http://schemas.openxmlformats.org/officeDocument/2006/relationships" id="261" r:id="R3cc6021aaaf74c55"/>
    <p:sldId xmlns:r="http://schemas.openxmlformats.org/officeDocument/2006/relationships" id="262" r:id="R97f4713961c4483f"/>
    <p:sldId xmlns:r="http://schemas.openxmlformats.org/officeDocument/2006/relationships" id="263" r:id="R9162354896ce4b16"/>
    <p:sldId xmlns:r="http://schemas.openxmlformats.org/officeDocument/2006/relationships" id="264" r:id="Rbecce55bea5348d0"/>
    <p:sldId xmlns:r="http://schemas.openxmlformats.org/officeDocument/2006/relationships" id="265" r:id="Ra558fdef3e2a4f6a"/>
    <p:sldId xmlns:r="http://schemas.openxmlformats.org/officeDocument/2006/relationships" id="266" r:id="R6a2a6630b7aa4d6a"/>
    <p:sldId xmlns:r="http://schemas.openxmlformats.org/officeDocument/2006/relationships" id="267" r:id="Rf31ee3bb561f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ca27974f14c84" /><Relationship Type="http://schemas.openxmlformats.org/officeDocument/2006/relationships/slideMaster" Target="/ppt/slideMasters/slideMaster1.xml" Id="R6ca44cf852a4467c" /><Relationship Type="http://schemas.openxmlformats.org/officeDocument/2006/relationships/notesMaster" Target="/ppt/notesMasters/notesMaster1.xml" Id="R5f7e686263934341" /><Relationship Type="http://schemas.openxmlformats.org/officeDocument/2006/relationships/presProps" Target="/ppt/presProps.xml" Id="R536ec127c4494fba" /><Relationship Type="http://schemas.openxmlformats.org/officeDocument/2006/relationships/tableStyles" Target="/ppt/tableStyles.xml" Id="R0ceed90508f246e4" /><Relationship Type="http://schemas.openxmlformats.org/officeDocument/2006/relationships/slide" Target="/ppt/slides/slide1.xml" Id="R0213e42eaea2416d" /><Relationship Type="http://schemas.openxmlformats.org/officeDocument/2006/relationships/slide" Target="/ppt/slides/slide2.xml" Id="R4c5d93af74644944" /><Relationship Type="http://schemas.openxmlformats.org/officeDocument/2006/relationships/slide" Target="/ppt/slides/slide3.xml" Id="Rf55d21dce98d4844" /><Relationship Type="http://schemas.openxmlformats.org/officeDocument/2006/relationships/slide" Target="/ppt/slides/slide4.xml" Id="R6fa892907cd24173" /><Relationship Type="http://schemas.openxmlformats.org/officeDocument/2006/relationships/slide" Target="/ppt/slides/slide5.xml" Id="R631aa59ebe854e80" /><Relationship Type="http://schemas.openxmlformats.org/officeDocument/2006/relationships/slide" Target="/ppt/slides/slide6.xml" Id="R3cc6021aaaf74c55" /><Relationship Type="http://schemas.openxmlformats.org/officeDocument/2006/relationships/slide" Target="/ppt/slides/slide7.xml" Id="R97f4713961c4483f" /><Relationship Type="http://schemas.openxmlformats.org/officeDocument/2006/relationships/slide" Target="/ppt/slides/slide8.xml" Id="R9162354896ce4b16" /><Relationship Type="http://schemas.openxmlformats.org/officeDocument/2006/relationships/slide" Target="/ppt/slides/slide9.xml" Id="Rbecce55bea5348d0" /><Relationship Type="http://schemas.openxmlformats.org/officeDocument/2006/relationships/slide" Target="/ppt/slides/slide10.xml" Id="Ra558fdef3e2a4f6a" /><Relationship Type="http://schemas.openxmlformats.org/officeDocument/2006/relationships/slide" Target="/ppt/slides/slide11.xml" Id="R6a2a6630b7aa4d6a" /><Relationship Type="http://schemas.openxmlformats.org/officeDocument/2006/relationships/slide" Target="/ppt/slides/slide12.xml" Id="Rf31ee3bb561f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7e2b400a9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bca608e4a48d1" /><Relationship Type="http://schemas.openxmlformats.org/officeDocument/2006/relationships/notesMaster" Target="/ppt/notesMasters/notesMaster1.xml" Id="R635d61447e7d4d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8bdc4b8b54eab" /><Relationship Type="http://schemas.openxmlformats.org/officeDocument/2006/relationships/notesMaster" Target="/ppt/notesMasters/notesMaster1.xml" Id="R89f3f71a35d348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f92a180e54fe7" /><Relationship Type="http://schemas.openxmlformats.org/officeDocument/2006/relationships/notesMaster" Target="/ppt/notesMasters/notesMaster1.xml" Id="R7f83d74fa558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f4910ab6024b1a" /><Relationship Type="http://schemas.openxmlformats.org/officeDocument/2006/relationships/notesMaster" Target="/ppt/notesMasters/notesMaster1.xml" Id="Rceea6ac8afde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b41cf57f1f4be1" /><Relationship Type="http://schemas.openxmlformats.org/officeDocument/2006/relationships/notesMaster" Target="/ppt/notesMasters/notesMaster1.xml" Id="Re8cb8fd54617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ae63dd20fd44a7" /><Relationship Type="http://schemas.openxmlformats.org/officeDocument/2006/relationships/notesMaster" Target="/ppt/notesMasters/notesMaster1.xml" Id="Rd7294d80fade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3f7a201c24fba" /><Relationship Type="http://schemas.openxmlformats.org/officeDocument/2006/relationships/notesMaster" Target="/ppt/notesMasters/notesMaster1.xml" Id="R43fc8dbce031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163445e2c42e4" /><Relationship Type="http://schemas.openxmlformats.org/officeDocument/2006/relationships/notesMaster" Target="/ppt/notesMasters/notesMaster1.xml" Id="R52aa8dbc72f5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3746f022d34772" /><Relationship Type="http://schemas.openxmlformats.org/officeDocument/2006/relationships/notesMaster" Target="/ppt/notesMasters/notesMaster1.xml" Id="Re5d12616c976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5592fbefeb4365" /><Relationship Type="http://schemas.openxmlformats.org/officeDocument/2006/relationships/notesMaster" Target="/ppt/notesMasters/notesMaster1.xml" Id="R424c1fbdedaf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3c9ea1faac4c25" /><Relationship Type="http://schemas.openxmlformats.org/officeDocument/2006/relationships/notesMaster" Target="/ppt/notesMasters/notesMaster1.xml" Id="Rc44a296d5fc84b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c5824002a34e3d" /><Relationship Type="http://schemas.openxmlformats.org/officeDocument/2006/relationships/notesMaster" Target="/ppt/notesMasters/notesMaster1.xml" Id="R55d73c87fe35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图像来源：OpenAI image generation，虚构产品示意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D9d30a965d5:line:3: 最终确认：预算上限6万元，试行周期4周，只测试南昌。以上明确替代简报中的9万元和多城市讨论。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D9d30a965d5:line:7: 模拟访谈样本共120人，每人只选一个场景；工作日下午54人、午餐之后33人、居家休息21人、通勤途中12人。该便利样本不能外推总体市场。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Dbdf8a63051:line:4: 产品：桂花乌龙、茉莉绿茶，两款独立袋泡。现有规格为每盒6包。原料产地和认证尚未提供，不能对外描述资质。</a:t>
            </a:r>
          </a:p>
          <a:p xmlns:a="http://schemas.openxmlformats.org/drawingml/2006/main">
            <a:r>
              <a:t>来源 D9d30a965d5:line:7: 模拟访谈样本共120人，每人只选一个场景；工作日下午54人、午餐之后33人、居家休息21人、通勤途中12人。该便利样本不能外推总体市场。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Dbdf8a63051:line:4: 产品：桂花乌龙、茉莉绿茶，两款独立袋泡。现有规格为每盒6包。原料产地和认证尚未提供，不能对外描述资质。</a:t>
            </a:r>
          </a:p>
          <a:p xmlns:a="http://schemas.openxmlformats.org/drawingml/2006/main">
            <a:r>
              <a:t>来源 D9d30a965d5:line:5: 价格：桂花乌龙每盒建议售价29元，茉莉绿茶每盒建议售价26元；都只是待确认的试行价格，尚未正式销售。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图像来源：OpenAI image generation，虚构概念示意，非印刷稿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D9d30a965d5:line:4: 资源：两家合作办公空间允许安排试饮；自有小红书账号可发布内容。合作方名称与流量数据未提供。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D9d30a965d5:line:3: 最终确认：预算上限6万元，试行周期4周，只测试南昌。以上明确替代简报中的9万元和多城市讨论。</a:t>
            </a:r>
          </a:p>
          <a:p xmlns:a="http://schemas.openxmlformats.org/drawingml/2006/main">
            <a:r>
              <a:t>来源 D6e35a5c860:row:2: 试饮执行 | 15000 | 样品与现场执行</a:t>
            </a:r>
          </a:p>
          <a:p xmlns:a="http://schemas.openxmlformats.org/drawingml/2006/main">
            <a:r>
              <a:t>来源 D6e35a5c860:row:3: 内容素材 | 16000 | 拍摄与图文制作</a:t>
            </a:r>
          </a:p>
          <a:p xmlns:a="http://schemas.openxmlformats.org/drawingml/2006/main">
            <a:r>
              <a:t>来源 D6e35a5c860:row:4: 包装打样 | 9000 | 验证信息与印刷效果</a:t>
            </a:r>
          </a:p>
          <a:p xmlns:a="http://schemas.openxmlformats.org/drawingml/2006/main">
            <a:r>
              <a:t>来源 D6e35a5c860:row:5: 渠道测试 | 12000 | 小范围内容与触达实验</a:t>
            </a:r>
          </a:p>
          <a:p xmlns:a="http://schemas.openxmlformats.org/drawingml/2006/main">
            <a:r>
              <a:t>来源 D6e35a5c860:row:6: 预备费用 | 8000 | 应对试行调整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D9d30a965d5:line:3: 最终确认：预算上限6万元，试行周期4周，只测试南昌。以上明确替代简报中的9万元和多城市讨论。</a:t>
            </a:r>
          </a:p>
          <a:p xmlns:a="http://schemas.openxmlformats.org/drawingml/2006/main">
            <a:r>
              <a:t>来源 D9d30a965d5:line:6: 职责：品牌负责人确认产品与预算；运营负责试饮、内容和记录；设计负责包装信息、活动物料和内容模板。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方法依据：谋术鸣® 品牌定位设计模型，易慧庭·包参谋。知为价值观中心；谋定定位，术转译为设计与表达，鸣形成传播与反馈。本案为缺少全案前置材料的虚构应用示范。</a:t>
            </a:r>
          </a:p>
          <a:p xmlns:a="http://schemas.openxmlformats.org/drawingml/2006/main">
            <a:r>
              <a:t>来源 D9d30a965d5:line:3: 最终确认：预算上限6万元，试行周期4周，只测试南昌。以上明确替代简报中的9万元和多城市讨论。</a:t>
            </a:r>
          </a:p>
          <a:p xmlns:a="http://schemas.openxmlformats.org/drawingml/2006/main">
            <a:r>
              <a:t>来源 Dbdf8a63051:line:4: 产品：桂花乌龙、茉莉绿茶，两款独立袋泡。现有规格为每盒6包。原料产地和认证尚未提供，不能对外描述资质。</a:t>
            </a:r>
          </a:p>
          <a:p xmlns:a="http://schemas.openxmlformats.org/drawingml/2006/main">
            <a:r>
              <a:t>来源 D9d30a965d5:line:6: 职责：品牌负责人确认产品与预算；运营负责试饮、内容和记录；设计负责包装信息、活动物料和内容模板。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  <a:p xmlns:a="http://schemas.openxmlformats.org/drawingml/2006/main">
            <a:r>
              <a:t>来源 Dbdf8a63051:line:5: 品牌想法：希望消费者能在工作日下午喝到一杯简单、清爽的茶。避免传统茶礼风格，不强调复杂冲泡仪式。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3e782603447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47c298293745f1" /><Relationship Type="http://schemas.openxmlformats.org/officeDocument/2006/relationships/slideLayout" Target="/ppt/slideLayouts/slideLayout1.xml" Id="R1a02cdea469b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02cdea469b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16e39dbda416d" /><Relationship Type="http://schemas.openxmlformats.org/officeDocument/2006/relationships/image" Target="/ppt/media/image.png" Id="R11b3175edef5461f" /><Relationship Type="http://schemas.openxmlformats.org/officeDocument/2006/relationships/notesSlide" Target="/ppt/notesSlides/notesSlide1.xml" Id="R0a8f1810fa57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28f1346e1441a" /><Relationship Type="http://schemas.openxmlformats.org/officeDocument/2006/relationships/notesSlide" Target="/ppt/notesSlides/notesSlide2.xml" Id="Ra54b6442420048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8f1f3220c4c45" /><Relationship Type="http://schemas.openxmlformats.org/officeDocument/2006/relationships/chart" Target="/ppt/slides/charts/chart1.xml" Id="Raa9c7657ff1a468b" /><Relationship Type="http://schemas.openxmlformats.org/officeDocument/2006/relationships/notesSlide" Target="/ppt/notesSlides/notesSlide3.xml" Id="Rbdcfb3e08ccc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b75f6259e42ad" /><Relationship Type="http://schemas.openxmlformats.org/officeDocument/2006/relationships/notesSlide" Target="/ppt/notesSlides/notesSlide4.xml" Id="R6e8046d06246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d9b3c3749405a" /><Relationship Type="http://schemas.openxmlformats.org/officeDocument/2006/relationships/notesSlide" Target="/ppt/notesSlides/notesSlide5.xml" Id="R2671d18662234f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b45151e848b9" /><Relationship Type="http://schemas.openxmlformats.org/officeDocument/2006/relationships/notesSlide" Target="/ppt/notesSlides/notesSlide6.xml" Id="R431c083cea7048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ea808c46448ec" /><Relationship Type="http://schemas.openxmlformats.org/officeDocument/2006/relationships/image" Target="/ppt/media/image2.png" Id="R5404cdefe61f4c1a" /><Relationship Type="http://schemas.openxmlformats.org/officeDocument/2006/relationships/notesSlide" Target="/ppt/notesSlides/notesSlide7.xml" Id="Refc8041eedd84d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9c7db41b64382" /><Relationship Type="http://schemas.openxmlformats.org/officeDocument/2006/relationships/notesSlide" Target="/ppt/notesSlides/notesSlide8.xml" Id="Rdd0afe10e4aa4d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f88ef7f245e3" /><Relationship Type="http://schemas.openxmlformats.org/officeDocument/2006/relationships/notesSlide" Target="/ppt/notesSlides/notesSlide9.xml" Id="R4a0f852c12cc4a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10db18c9e4815" /><Relationship Type="http://schemas.openxmlformats.org/officeDocument/2006/relationships/notesSlide" Target="/ppt/notesSlides/notesSlide10.xml" Id="R5b5063fed8b84e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ec3e807ce4e18" /><Relationship Type="http://schemas.openxmlformats.org/officeDocument/2006/relationships/notesSlide" Target="/ppt/notesSlides/notesSlide11.xml" Id="R6cae1f30bde64f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7554f1fc149ba" /><Relationship Type="http://schemas.openxmlformats.org/officeDocument/2006/relationships/notesSlide" Target="/ppt/notesSlides/notesSlide12.xml" Id="R1593a2a0bc0d4d1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Source Han Sans CN"/>
                <a:ea typeface="Source Han Sans CN"/>
                <a:cs typeface="Source Han Sans CN"/>
              </a:rPr>
              <a:t>选择人数（人）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Source Han Sans CN"/>
              <a:ea typeface="Source Han Sans CN"/>
              <a:cs typeface="Source Han Sans CN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选择人数</c:v>
          </c:tx>
          <c:spPr>
            <a:solidFill xmlns:a="http://schemas.openxmlformats.org/drawingml/2006/main">
              <a:srgbClr val="183E34"/>
            </a:solidFill>
          </c:spPr>
          <c:cat>
            <c:strRef>
              <c:f>'Chart Data'!$A$2:$A$5</c:f>
              <c:strCache>
                <c:ptCount val="4"/>
                <c:pt idx="0">
                  <c:v>工作日下午</c:v>
                </c:pt>
                <c:pt idx="1">
                  <c:v>午餐之后</c:v>
                </c:pt>
                <c:pt idx="2">
                  <c:v>居家休息</c:v>
                </c:pt>
                <c:pt idx="3">
                  <c:v>通勤途中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54</c:v>
                </c:pt>
                <c:pt idx="1">
                  <c:v>33</c:v>
                </c:pt>
                <c:pt idx="2">
                  <c:v>21</c:v>
                </c:pt>
                <c:pt idx="3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1E8"/>
        </a:solidFill>
      </c:spPr>
    </c:plotArea>
    <c:plotVisOnly val="1"/>
  </c:chart>
  <c:spPr>
    <a:solidFill xmlns:a="http://schemas.openxmlformats.org/drawingml/2006/main">
      <a:srgbClr val="F4F1E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3175edef5461f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838E9-57C5-4F30-B9E2-7E42E4DA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山间来信 · 谋术鸣应用示范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B0515-6B06-4571-9B63-EC9A869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19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6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把一杯冷泡茶</a:t>
            </a:r>
          </a:p>
          <a:p xmlns:a="http://schemas.openxmlformats.org/drawingml/2006/main">
            <a:pPr>
              <a:defRPr sz="46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6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放进工作日的下午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A73CA-7453-4F71-A5A3-2E88FE8F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让定位、设计和传播围绕同一个品牌信念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E2152-3118-4012-89B5-B34875C4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虚构品牌演示 · 包参谋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CBE3F-E9B7-4DC6-8A70-1AE0D61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1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BDE99-6699-457E-99B7-DC33A29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以价值观为中心，贯通谋、术、鸣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5D58D-171E-40BA-9630-C384F28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0820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5945E-5A4E-4499-9316-5A73D98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知｜价值观中心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75C9-26E7-4165-A588-1A3DE3F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价值观建议：让日常饮茶更简单</a:t>
            </a:r>
          </a:p>
          <a:p xmlns:a="http://schemas.openxmlformats.org/drawingml/2006/main">
            <a:pPr>
              <a:def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使命建议：让办公室人群轻松喝上一杯茶</a:t>
            </a:r>
          </a:p>
          <a:p xmlns:a="http://schemas.openxmlformats.org/drawingml/2006/main">
            <a:pPr>
              <a:def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长期愿景：待创始人访谈确认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7665-07E7-4848-810E-ADE3FB10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谋｜定位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AE1E9-13CB-4AD6-9ABE-164B5DE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先验证工作日下午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冷泡茶的具体需要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差异仍需竞品证据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75F79-29FE-4C36-AB8A-4AD3F9F6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9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FBDED-0D88-42BD-98D6-081E1C5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术｜设计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8483B-F012-4DDD-AE16-E83801C7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先讲清品类和口味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再表达日常轻松感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在真实使用中检验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EA423-716E-4EEA-8798-B2D090B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9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7441B-CDF4-4226-AD02-1558F6C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鸣｜传播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7DE73-66D0-4BAD-B174-F4A49613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用同一表达做试饮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再转为场景内容</a:t>
            </a:r>
          </a:p>
          <a:p xmlns:a="http://schemas.openxmlformats.org/drawingml/2006/main">
            <a:pPr>
              <a:def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依据反馈决定放大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DBBA9-3CAD-4270-BB49-69E1CD6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工作假设稿，价值观与使命为建议，愿景待确认；南昌试行4周，预算上限6万元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0E6E-A441-4503-814F-7F4B37E7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4583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6BE38-E868-4E49-8FE1-5D9C3F8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谋｜下午场景值得优先验证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79B4B-1B3B-4633-A761-E04A887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3638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54人</a:t>
            </a:r>
          </a:p>
          <a:p xmlns:a="http://schemas.openxmlformats.org/drawingml/2006/main">
            <a:pPr>
              <a:defRPr sz="3225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选择工作日下午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22296-6B53-4E98-B681-BE40BA2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在这组模拟样本中，</a:t>
            </a:r>
          </a:p>
          <a:p xmlns:a="http://schemas.openxmlformats.org/drawingml/2006/main">
            <a:pPr>
              <a:def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该场景被选择得最多。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D5BF0-6DED-4264-8C6E-01CEC7F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9650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先验证使用体验，</a:t>
            </a:r>
          </a:p>
          <a:p xmlns:a="http://schemas.openxmlformats.org/drawingml/2006/main">
            <a:pPr>
              <a:def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不据此推算市场规模。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6484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9c7657ff1a468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4E9C3-5BB1-4797-9B5D-89A32CD8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模拟便利样本 n=120，每人单选；不能外推总体市场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EDBE3-D504-4CF3-9435-56B11F62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2980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06825-B975-409C-9733-30F730DC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谋｜先把定位三问说清楚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5B8D4-0EB6-450D-A469-85F4358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先形成可验证的定位方向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0B5A3-6436-4355-BB49-7BB132D4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你是什么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35218-D29E-453D-A7D9-7437C0B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面向办公室人群的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日常冷泡茶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从工作日下午切入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A04BF-7462-411A-AEF3-568F88CF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有何不同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3BED0-275C-4F84-B048-214A9AF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先聚焦轻松饮茶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这是场景差异假设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尚待竞品材料核验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45D42-B3F1-47A9-A5DE-BB7288B7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何以见得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2C304-7559-4315-B34E-5984F02B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已有两款产品设定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模拟访谈提示需求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真实试饮尚未验证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B9076-C242-4E41-AF66-0B630D67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定位为工作假设；没有竞品与真实试饮证据，不能认定独有优势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83F92-C492-497E-9ACE-A0CFC1F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7082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ABE55-704A-4BDD-AB7A-C5705D4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首批聚焦两款茶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EF2F-118F-4BAE-BCA3-F680E3C6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先让顾客看懂是什么，再说明怎么选择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2400300"/>
          <a:ext xmlns:a="http://schemas.openxmlformats.org/drawingml/2006/main" cx="108204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333625"/>
                <a:gridCol w="2095500"/>
                <a:gridCol w="3248025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产品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规格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建议售价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信息重点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桂花乌龙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每盒6包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29元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茶底与桂花香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茉莉绿茶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每盒6包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26元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茶底与茉莉香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A9834-EB1D-4844-BFC6-2120CA3F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包装文案与冲泡说明，在产品资料确认后定稿。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5BFD1-E11F-48A5-967D-402D74FD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售价为试行建议，尚未确认或形成销售记录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6593F-514E-40EA-8870-AF21CDA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7392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44638-D8B3-4534-AD5B-7087BD6C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术｜让定位变成一句清楚的话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EC977-A4D9-4116-9C71-6D0DF51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57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5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给下午留一点清爽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647C4-242E-44BF-955F-0DFF85E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先说清冷泡茶，再说明口味、规格和冲泡方式。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F6BEA-D46C-4FBA-8FCB-F44BA44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这句创意承接简单、清爽的饮茶方向；需要在试饮中检验是否被理解。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3F132-9018-4F9D-AC48-EC715185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广告语为团队创意建议，不冒充用户原话或已验证表达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FFC7D-DC91-4557-8A96-868956F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5236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CD6E-81C9-4FE5-B090-AE2E323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术｜设计先完成认知任务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4cdefe61f4c1a"/>
          <a:stretch xmlns:a="http://schemas.openxmlformats.org/drawingml/2006/main"/>
        </p:blipFill>
        <p:spPr>
          <a:xfrm xmlns:a="http://schemas.openxmlformats.org/drawingml/2006/main">
            <a:off x="5842000" y="1590675"/>
            <a:ext cx="5651500" cy="423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A3119-0F3B-43F3-B153-4946F52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438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先看懂冷泡茶</a:t>
            </a:r>
          </a:p>
          <a:p xmlns:a="http://schemas.openxmlformats.org/drawingml/2006/main">
            <a:pPr>
              <a:defRPr sz="28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再记住日常轻松感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7178-7953-4AF7-AFBC-B31E639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品类、口味与冲泡信息优先，</a:t>
            </a:r>
          </a:p>
          <a:p xmlns:a="http://schemas.openxmlformats.org/drawingml/2006/main">
            <a:pPr>
              <a:def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让定位变成清楚的阅读顺序。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A0C63-E915-4A34-BFD9-A6EE75A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自然绿与茶色是表达建议，</a:t>
            </a:r>
          </a:p>
          <a:p xmlns:a="http://schemas.openxmlformats.org/drawingml/2006/main">
            <a:pPr>
              <a:def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仍需实物与使用场景验证。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8E4B-3CB8-4C43-9B44-D4A9C5F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AI生成的包装概念示意；信息和结构待产品资料确认后深化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E517D-10B5-4F4D-B0BC-85F9031E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4045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54AEE-3880-4156-A1D6-3680C4C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鸣｜让同一表达进入两个场景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26A25-BF4F-4F74-BD10-7F40105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先用已有资源验证，再决定是否扩大投入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FE645-FD9F-4C42-81F1-A4BBD1B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512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办公空间试饮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728A5-740D-44FD-8645-253EEC5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5124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使用产品说明与冲泡卡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记录何时喝、如何选择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收集问题和推荐原话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BD219-3787-4EEE-A830-834E1EC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512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小红书场景内容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C93C8-EDD4-4D38-8AEC-49F725A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5124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共用广告语与产品信息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呈现工作日下午场景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记录理解与尝试意愿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50284-FDB8-4341-8F35-203E42C2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渠道资源来自演示设定；触达与转化尚未验证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BB20A-3B8A-4C3D-99EA-1798843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4233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3C444-3543-4D39-91B2-8988AAA8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6万元支持试饮与表达验证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22E20-B434-451A-96BF-7482803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每笔投入对应一项能够回收的信息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2400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81250"/>
                <a:gridCol w="54864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项目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金额（元）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用途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试饮执行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15000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样品与现场执行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内容素材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16000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拍摄与图文制作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包装打样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9000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验证信息与印刷效果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渠道测试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12000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小范围内容与触达实验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预备费用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8000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应对试行调整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7B4C5-7D3A-4EFB-8C63-EE253854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预算建议合计60000元；投放效果与销售收入尚未发生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77793-30D7-4E73-AC36-BB85EE8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6053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B5EC9-9874-4AC3-974D-1BB655AF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鸣｜四周完成首轮验证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3D0E4-85C9-4944-BF72-6B03022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每一周都留下可供下一步使用的结果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240030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153150"/>
                <a:gridCol w="26670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阶段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本周完成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1E8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主要负责</a:t>
                      </a:r>
                    </a:p>
                  </a:txBody>
                  <a:tcPr marL="142875" marR="142875" marT="95250" marB="95250">
                    <a:solidFill>
                      <a:srgbClr val="183E3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第1周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确认产品、口径与物料范围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品牌负责人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第2周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准备打样、内容与记录表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设计与运营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第3周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开展试饮，整理反馈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运营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第4周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复盘产品、表达与渠道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E34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品牌负责人及团队</a:t>
                      </a:r>
                    </a:p>
                  </a:txBody>
                  <a:tcPr marL="142875" marR="142875" marT="95250" marB="95250"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88B6-ECE2-47CD-8975-D4E4754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推进安排为建议；实际日期由项目启动时间确定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93164-9DD6-4B4D-A62F-84325EA3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4651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9113D-3B88-43E2-9DBF-B650F81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复盘回到定位、表达与用户回应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DA21C-AC18-46BB-B269-83DA2AF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用反馈检查：品牌信念是否落实到实际体验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B0187-256E-436B-9B7A-F7BEF5E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定位是否成立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54699-DAB2-40C2-A5E0-C760AB5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记录具体试饮评价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核对场景与购买理由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补齐差异化证据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FB4BD-FD37-4B2D-9134-46C2C34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表达是否清楚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FCFE9-86D9-4DEE-838C-CC104812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看用户能否说清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这是什么产品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为什么适合自己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743B7-C97C-4688-91D3-4F137FA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714625"/>
            <a:ext cx="322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传播是否有回应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36DE8-AE3F-46C1-95BA-DBFF8C6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867150"/>
            <a:ext cx="3225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分清好评与尝试意愿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收集用户自己的话</a:t>
            </a:r>
          </a:p>
          <a:p xmlns:a="http://schemas.openxmlformats.org/drawingml/2006/main">
            <a:pPr>
              <a:def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E34"/>
                </a:solidFill>
                <a:latin typeface="Source Han Sans CN"/>
                <a:ea typeface="Source Han Sans CN"/>
                <a:cs typeface="Source Han Sans CN"/>
              </a:rPr>
              <a:t>再决定扩大或调整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7A3DE-2CD8-425B-8A62-4A1B0ABE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虚构品牌演示 · 包参谋 · 此页为后续验证计划，不是已经取得的效果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DBF29-EC10-42B2-8E7C-C5D0ED6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86B60"/>
                </a:solidFill>
                <a:latin typeface="Source Han Sans CN"/>
                <a:ea typeface="Source Han Sans CN"/>
                <a:cs typeface="Source Han Sans C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3225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E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1D7FC-9C04-4CBD-B44C-B6CD8C8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500" b="1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今天先确认三件事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147A6-0211-4471-893F-6B590D77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确认价值观与使命建议，补齐愿景访谈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0871C-0C8A-4137-AAF4-552F1A8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确认两款产品资料、定位依据和待定价格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BCE9E-C029-40B4-8092-EE5A9A83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F4F1E8"/>
                </a:solidFill>
                <a:latin typeface="Source Han Sans CN"/>
                <a:ea typeface="Source Han Sans CN"/>
                <a:cs typeface="Source Han Sans CN"/>
              </a:rPr>
              <a:t>确认南昌、4周、6万元，以及首轮试饮分工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F4E77-8DC1-4722-8372-98E1BE92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rPr>
              <a:t>把第一次试行做清楚，再决定下一步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81503-9B5F-4BFA-B947-B42FB82C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rPr>
              <a:t>方法依据：谋术鸣® 品牌定位设计模型｜易慧庭·包参谋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488C9-5794-4899-87EA-7D1803B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42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rPr>
              <a:t>虚构品牌演示 · 包参谋 · 价值观、使命与定位为建议；愿景与支撑证据待确认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2F935-3EBD-4CA5-938F-7CE2A63E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CDDACF"/>
                </a:solidFill>
                <a:latin typeface="Source Han Sans CN"/>
                <a:ea typeface="Source Han Sans CN"/>
                <a:cs typeface="Source Han Sans C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4507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BaoCanMou (AI-assisted fictional demo)</dc:creator>
  <cp:lastModifiedBy>BaoCanMou</cp:lastModifiedBy>
  <dc:title>山间来信｜谋术鸣应用示范 / Fictional MouShuMing Proposal</dc:title>
  <dcterms:created xsi:type="dcterms:W3CDTF">2026-09-10T14:41:55.5970000Z</dcterms:created>
  <dcterms:modified xsi:type="dcterms:W3CDTF">2026-09-13T16:07:45.339933Z</dcterms:modified>
</cp:coreProperties>
</file>